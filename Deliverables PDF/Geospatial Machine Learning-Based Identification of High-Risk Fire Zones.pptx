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sfgov.org/City-Infrastructure/City-Facilities/nc68-ngbr/about_data" TargetMode="External"/><Relationship Id="rId2" Type="http://schemas.openxmlformats.org/officeDocument/2006/relationships/hyperlink" Target="https://data.sfgov.org/Public-Safety/Fire-Incidents/wr8u-xric/about_dat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23775-3028-C723-B92B-89EFF5639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3429000"/>
            <a:ext cx="8144134" cy="1373070"/>
          </a:xfrm>
        </p:spPr>
        <p:txBody>
          <a:bodyPr/>
          <a:lstStyle/>
          <a:p>
            <a:r>
              <a:rPr lang="en-US" sz="4000" dirty="0"/>
              <a:t>Geospatial Machine Learning-Based Identification of High-Risk Fire Zones in San Francisco</a:t>
            </a:r>
            <a:br>
              <a:rPr lang="en-US" sz="4000" dirty="0"/>
            </a:br>
            <a:endParaRPr lang="en-P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A0E4C-BAB8-18D1-E560-904A8B734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970902"/>
          </a:xfrm>
        </p:spPr>
        <p:txBody>
          <a:bodyPr>
            <a:normAutofit/>
          </a:bodyPr>
          <a:lstStyle/>
          <a:p>
            <a:r>
              <a:rPr lang="en-PH" sz="1600" dirty="0"/>
              <a:t>Name: Tenedero, Sean Carr Geoffrey M.</a:t>
            </a:r>
          </a:p>
          <a:p>
            <a:r>
              <a:rPr lang="en-PH" sz="1600" dirty="0"/>
              <a:t>Course/Year/Section: BSCPE 3A IE</a:t>
            </a:r>
          </a:p>
          <a:p>
            <a:r>
              <a:rPr lang="en-PH" sz="1600" dirty="0"/>
              <a:t>Date Submitted: December 12, 2025</a:t>
            </a:r>
          </a:p>
          <a:p>
            <a:r>
              <a:rPr lang="en-PH" sz="1600" dirty="0"/>
              <a:t>Instructor: Engr. Julie Ann Susa-Gili</a:t>
            </a:r>
          </a:p>
          <a:p>
            <a:r>
              <a:rPr lang="en-PH" sz="1600" dirty="0"/>
              <a:t>CPE 15 Laboratory: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159249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03795-14DD-220D-B5C6-CFDEB8CE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Problem Statement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5139-4A39-E8C9-A07F-115231188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Urban fires pose significant risks to life and property in San Francisco. The problem is most often found in Metro Manila as well.</a:t>
            </a:r>
          </a:p>
          <a:p>
            <a:r>
              <a:rPr lang="en-US" dirty="0"/>
              <a:t>Efficient emergency response requires identifying high-risk zones.</a:t>
            </a:r>
          </a:p>
          <a:p>
            <a:r>
              <a:rPr lang="en-US" dirty="0"/>
              <a:t>Geospatial data and machine learning enable data-driven risk prediction and resource allocation.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508087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757F-D62D-7F13-FFE6-798788EA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Data Sources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9DA43-CB45-8E6C-D402-F54F840B6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Fire Incidents Dataset: Records of fire events with locations and details.</a:t>
            </a:r>
            <a:br>
              <a:rPr lang="en-US" dirty="0"/>
            </a:br>
            <a:r>
              <a:rPr lang="en-US" dirty="0"/>
              <a:t>Source: 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, CSV, ~1600 MB</a:t>
            </a:r>
          </a:p>
          <a:p>
            <a:r>
              <a:rPr lang="en-US" dirty="0"/>
              <a:t>Supervisor Districts: Geographic boundaries of city districts.</a:t>
            </a:r>
            <a:br>
              <a:rPr lang="en-US" dirty="0"/>
            </a:br>
            <a:r>
              <a:rPr lang="en-US" dirty="0"/>
              <a:t>Source: </a:t>
            </a:r>
            <a:r>
              <a:rPr lang="en-US" dirty="0">
                <a:hlinkClick r:id="rId3"/>
              </a:rPr>
              <a:t>link</a:t>
            </a:r>
            <a:r>
              <a:rPr lang="en-US" dirty="0"/>
              <a:t>, </a:t>
            </a:r>
            <a:r>
              <a:rPr lang="en-US" dirty="0" err="1"/>
              <a:t>GeoJSON</a:t>
            </a:r>
            <a:r>
              <a:rPr lang="en-US" dirty="0"/>
              <a:t>, ~ 300KB</a:t>
            </a:r>
          </a:p>
          <a:p>
            <a:r>
              <a:rPr lang="en-US" dirty="0"/>
              <a:t>City Facilities: Locations of fire stations and other facilities.</a:t>
            </a:r>
            <a:br>
              <a:rPr lang="en-US" dirty="0"/>
            </a:br>
            <a:r>
              <a:rPr lang="en-US" dirty="0"/>
              <a:t>Source: </a:t>
            </a:r>
            <a:r>
              <a:rPr lang="en-US" dirty="0">
                <a:hlinkClick r:id="rId3"/>
              </a:rPr>
              <a:t>link</a:t>
            </a:r>
            <a:r>
              <a:rPr lang="en-US" dirty="0"/>
              <a:t>, CSV, ~492 KB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26272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D28F-C16A-45B8-C184-8D00AC6B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Data Preprocessing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DE83F-E980-4B2A-FF5D-AFEEE84D6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duplicate and irrelevant fire incident records.</a:t>
            </a:r>
          </a:p>
          <a:p>
            <a:r>
              <a:rPr lang="en-US" dirty="0"/>
              <a:t>Filtered out non-fire events and incidents outside valid districts.</a:t>
            </a:r>
          </a:p>
          <a:p>
            <a:r>
              <a:rPr lang="en-US" dirty="0"/>
              <a:t>Standardized all geospatial data to EPSG:4326 for consistency.</a:t>
            </a:r>
          </a:p>
          <a:p>
            <a:r>
              <a:rPr lang="en-US" dirty="0"/>
              <a:t>Merged fire incidents, supervisor districts, and fire station locations for unified analysis.</a:t>
            </a:r>
          </a:p>
        </p:txBody>
      </p:sp>
    </p:spTree>
    <p:extLst>
      <p:ext uri="{BB962C8B-B14F-4D97-AF65-F5344CB8AC3E}">
        <p14:creationId xmlns:p14="http://schemas.microsoft.com/office/powerpoint/2010/main" val="308511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C8954-0960-D1F3-E6E9-4C2251212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Exploratory Data Analysis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10DBC-4C76-B163-CBDC-08F3A0FE0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Plotted yearly fire incident trends to identify temporal patterns.</a:t>
            </a:r>
          </a:p>
          <a:p>
            <a:r>
              <a:rPr lang="en-US" dirty="0"/>
              <a:t>Mapped fire station locations to visualize emergency resource distribution.</a:t>
            </a:r>
          </a:p>
          <a:p>
            <a:r>
              <a:rPr lang="en-US" dirty="0"/>
              <a:t>Created choropleth maps showing fire incident density by supervisor district.</a:t>
            </a:r>
          </a:p>
          <a:p>
            <a:r>
              <a:rPr lang="en-US" dirty="0"/>
              <a:t>Observed that certain districts consistently have higher incident rates.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979941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2887-2C64-431A-F808-3F599A0A6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Feature Engineering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584DE-6A2B-522E-F607-AFFCA6E36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Calculated distance from each fire incident to the nearest fire station (in meters).</a:t>
            </a:r>
          </a:p>
          <a:p>
            <a:r>
              <a:rPr lang="en-US" dirty="0"/>
              <a:t>Classified supervisor districts into Low, Medium, and High risk levels using incident density quantiles.</a:t>
            </a:r>
          </a:p>
          <a:p>
            <a:r>
              <a:rPr lang="en-US" dirty="0"/>
              <a:t>Merged risk levels and distance features into the incident-level dataset for modeling.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73592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7CA1-2B63-F865-78AE-BC10869F6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Machine Learning Model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01521-921C-D129-9DD2-36E20DB02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classification to predict incident-level fire risk (Low, Medium, High).</a:t>
            </a:r>
          </a:p>
          <a:p>
            <a:r>
              <a:rPr lang="en-US" dirty="0"/>
              <a:t>Split data into training and testing sets for model validation.</a:t>
            </a:r>
          </a:p>
          <a:p>
            <a:r>
              <a:rPr lang="en-US" dirty="0"/>
              <a:t>Evaluated model using accuracy and confusion matrix; achieved 86% accuracy.</a:t>
            </a:r>
          </a:p>
          <a:p>
            <a:r>
              <a:rPr lang="en-US" dirty="0"/>
              <a:t>Model incorporates both district risk and proximity to fire stations.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75796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0914C-9C20-6B85-988F-B44412B0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Interactive Visualization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71E56-FAA1-674D-AFEC-8C6F3B50C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 Folium map displaying predicted risk levels for each incident.</a:t>
            </a:r>
          </a:p>
          <a:p>
            <a:r>
              <a:rPr lang="en-US" dirty="0"/>
              <a:t>Supervisor districts outlined in blue for spatial context.</a:t>
            </a:r>
          </a:p>
          <a:p>
            <a:r>
              <a:rPr lang="en-US" dirty="0"/>
              <a:t>Fire stations marked with custom icons.</a:t>
            </a:r>
          </a:p>
          <a:p>
            <a:r>
              <a:rPr lang="en-US" dirty="0"/>
              <a:t>Popups show incident details, district risk, and distance to nearest station.</a:t>
            </a:r>
          </a:p>
          <a:p>
            <a:r>
              <a:rPr lang="en-US" dirty="0"/>
              <a:t>Custom legend explains map colors and symbols.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703048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4A85-6584-EC54-4E75-1FC8E2FB5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Key Insights &amp; Recommendations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BF11-DB61-7CBF-37D1-0F633724D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High-risk districts identified for targeted emergency planning.</a:t>
            </a:r>
          </a:p>
          <a:p>
            <a:r>
              <a:rPr lang="en-US" dirty="0"/>
              <a:t>Incidents farther from fire stations tend to have higher predicted risk.</a:t>
            </a:r>
          </a:p>
          <a:p>
            <a:r>
              <a:rPr lang="en-US" dirty="0"/>
              <a:t>Recommend allocating more resources to high-risk and underserved areas.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97361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25674-2D27-41C3-ECC1-C89B37222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/>
              <a:t>Conclusion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6540-E901-6024-B2AA-3B9867D94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Geospatial analysis and machine learning improve fire risk identification.</a:t>
            </a:r>
          </a:p>
          <a:p>
            <a:r>
              <a:rPr lang="en-US" dirty="0"/>
              <a:t>Interactive maps support data-driven emergency response decisions.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0678680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{46C1B51F-7A1D-4FD5-9912-3DBE28F5144D}TF6e1c0bd6-43b7-4cba-aa12-42a644606054c9b78bf9-d218b69a002d</Template>
  <TotalTime>36</TotalTime>
  <Words>456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Berlin</vt:lpstr>
      <vt:lpstr>Geospatial Machine Learning-Based Identification of High-Risk Fire Zones in San Francisco </vt:lpstr>
      <vt:lpstr>Problem Statement</vt:lpstr>
      <vt:lpstr>Data Sources</vt:lpstr>
      <vt:lpstr>Data Preprocessing</vt:lpstr>
      <vt:lpstr>Exploratory Data Analysis</vt:lpstr>
      <vt:lpstr>Feature Engineering</vt:lpstr>
      <vt:lpstr>Machine Learning Model</vt:lpstr>
      <vt:lpstr>Interactive Visualization</vt:lpstr>
      <vt:lpstr>Key Insights &amp;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Carr Geoffrey Tenedero</dc:creator>
  <cp:lastModifiedBy>Sean Carr Geoffrey Tenedero</cp:lastModifiedBy>
  <cp:revision>2</cp:revision>
  <dcterms:created xsi:type="dcterms:W3CDTF">2025-12-11T14:43:32Z</dcterms:created>
  <dcterms:modified xsi:type="dcterms:W3CDTF">2025-12-12T00:39:59Z</dcterms:modified>
</cp:coreProperties>
</file>